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pic>
        <p:nvPicPr>
          <p:cNvPr id="3" name="Image 0" descr="/home/claude/muj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"/>
            <a:ext cx="173736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005840"/>
            <a:ext cx="64008" cy="246888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960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HinglishFinSent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Dataset and Architecture Comparison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Hinglish Financial Sentiment Analysis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2633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Project Based Learning-4  ·  VI Semester  ·  Jan–May 2026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315968"/>
            <a:ext cx="9144000" cy="832104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Sarthak Gupta  ·  23FE10CSE00432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Dept. of CSE, Manipal University Jaipur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Guide: Dr. Bali Devi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949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70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75488" y="1737360"/>
            <a:ext cx="2432304" cy="36576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105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150M+ Demat Accounts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India's retail investor boom drives massive Hinglish financial discourse on Reddit, YouTube &amp; Telegram.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170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310128" y="1737360"/>
            <a:ext cx="2432304" cy="36576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8105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Code-Mixed Language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194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"Nifty ka breakout confirm ho gaya, accumulate karo" — English NLP models fail on Hindi morphology.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170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144768" y="1737360"/>
            <a:ext cx="2432304" cy="36576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8105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No Existing Benchmark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194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566"/>
                </a:solidFill>
              </a:rPr>
              <a:t>Zero labelled datasets exist for Hinglish financial sentiment, blocking progress in this application area.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solidFill>
            <a:srgbClr val="EBF5F4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370832"/>
            <a:ext cx="54864" cy="50292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074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3C"/>
                </a:solidFill>
              </a:rPr>
              <a:t>"yeh stock toh gaya bhai, kab tak hold karein?" — typical Hinglish financial post; zero standard NLP tool handles this correctly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HinglishFinSent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949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CONSTRUCTION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84048" cy="38404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Collection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72,944 raw records from Reddit, YouTube, Telegram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1517904"/>
            <a:ext cx="0" cy="384048"/>
          </a:xfrm>
          <a:prstGeom prst="line">
            <a:avLst/>
          </a:prstGeom>
          <a:noFill/>
          <a:ln w="19050">
            <a:solidFill>
              <a:srgbClr val="0D7A6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040" y="1938528"/>
            <a:ext cx="384048" cy="38404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1901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7-step pipeline → 19,235 records retained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" y="2340864"/>
            <a:ext cx="0" cy="384048"/>
          </a:xfrm>
          <a:prstGeom prst="line">
            <a:avLst/>
          </a:prstGeom>
          <a:noFill/>
          <a:ln w="19050">
            <a:solidFill>
              <a:srgbClr val="0D7A6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" y="2761488"/>
            <a:ext cx="384048" cy="38404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724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Annotation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2999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Weak supervision + MuRIL + human gold labels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" y="3163824"/>
            <a:ext cx="0" cy="384048"/>
          </a:xfrm>
          <a:prstGeom prst="line">
            <a:avLst/>
          </a:prstGeom>
          <a:noFill/>
          <a:ln w="19050">
            <a:solidFill>
              <a:srgbClr val="0D7A6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20040" y="3584448"/>
            <a:ext cx="384048" cy="38404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547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Augmentation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3822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Synonym replacement + Gemini 2.0 Flash paraphrases</a:t>
            </a:r>
            <a:endParaRPr lang="en-US" sz="1000" dirty="0"/>
          </a:p>
        </p:txBody>
      </p:sp>
      <p:pic>
        <p:nvPicPr>
          <p:cNvPr id="26" name="Image 0" descr="/home/claude/fig6_datas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24128"/>
            <a:ext cx="3840480" cy="22860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0" y="4343400"/>
            <a:ext cx="914400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2,966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31520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Gold Test Samples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8346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53,433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2834640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Train (augmented)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93776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3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4937760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Classes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04088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~$0.53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040880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LLM Augm. Cost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Custom Architectures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94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199339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24128"/>
            <a:ext cx="199339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4241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BiLSTM + Attention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6.1M params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Two-layer BiLSTM with scaled dot-product attention pooling. Bahdanau-style baseline.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96312" y="1024128"/>
            <a:ext cx="199339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024128"/>
            <a:ext cx="199339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104241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SACL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9464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</a:rPr>
              <a:t>8.4M params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7752" y="173736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Language-stream separation routing tokens to Hindi/English BiLSTMs with FinancialLexiconGate.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1024128"/>
            <a:ext cx="199339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72584" y="1024128"/>
            <a:ext cx="1993392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104241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5736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</a:rPr>
              <a:t>9.7M params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64024" y="173736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Custom Transformer with LanguageAwarePositional Encoding, FinancialContextAttention &amp; CodeSwitch Pooling.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48856" y="1024128"/>
            <a:ext cx="199339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024128"/>
            <a:ext cx="1993392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104241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PRC-MoE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22008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</a:rPr>
              <a:t>~50M params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0296" y="173736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MuRIL semantic encoder + phonetic BiLSTM + top-2 sparse MoE routing with contrastive learning head.</a:t>
            </a:r>
            <a:endParaRPr lang="en-US" sz="950" dirty="0"/>
          </a:p>
        </p:txBody>
      </p:sp>
      <p:pic>
        <p:nvPicPr>
          <p:cNvPr id="27" name="Image 0" descr="/home/claude/fig1_prc_mo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407408"/>
            <a:ext cx="8503920" cy="9144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0" y="4343400"/>
            <a:ext cx="9144000" cy="804672"/>
          </a:xfrm>
          <a:prstGeom prst="rect">
            <a:avLst/>
          </a:prstGeom>
          <a:solidFill>
            <a:srgbClr val="EBF5F4"/>
          </a:solidFill>
          <a:ln w="6350">
            <a:solidFill>
              <a:srgbClr val="0D7A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4622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All models trained with AdamW · Label Smoothing ε=0.1 · Class-weighted CE Loss · Early stopping on val macro F₁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PRC-MoE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94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pic>
        <p:nvPicPr>
          <p:cNvPr id="7" name="Image 0" descr="/home/claude/fig1_prc_mo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960120"/>
            <a:ext cx="585216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343400"/>
            <a:ext cx="914400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Semantic (MuRIL + Lang Tags) + Phonetic (Char BiLSTM) → Cross-Modal Attention Fusion → Top-2 MoE → Classifier + Contrastive Head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949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Training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 F₁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F₁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BiLSTM + Attn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53K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0.509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SACL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53K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53K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PRC-MoE S1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53K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MuRIL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53K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MuRIL (Gold) 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Gold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0.54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0.542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home/claude/fig2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60120"/>
            <a:ext cx="4251960" cy="2606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493008"/>
            <a:ext cx="850392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0040" y="3493008"/>
            <a:ext cx="64008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3529584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Key Finding: All models plateau at ~0.50–0.52 F₁ when trained on 53K augmented data. MuRIL on gold-only data achieves 0.542 — the highest score across all configurations.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0" y="4343400"/>
            <a:ext cx="914400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4988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Evaluation on 2,966-sample gold test set  ·  Primary metric: Macro F₁  ·  62% neutral class in test set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Finding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</a:t>
            </a:r>
            <a:endParaRPr lang="en-US" sz="900" dirty="0"/>
          </a:p>
        </p:txBody>
      </p:sp>
      <p:pic>
        <p:nvPicPr>
          <p:cNvPr id="6" name="Image 0" descr="/home/claude/fig3_val_test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8992"/>
            <a:ext cx="5120640" cy="30358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078992"/>
            <a:ext cx="3200400" cy="960120"/>
          </a:xfrm>
          <a:prstGeom prst="rect">
            <a:avLst/>
          </a:prstGeom>
          <a:solidFill>
            <a:srgbClr val="0D1A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1078992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33872" y="113385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~0.35 Val/Test Gap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33872" y="1408176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All models trained on 53K augmented data show a massive gap. High val F₁ (0.82–0.92) masks poor test performance (0.50–0.52).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157984"/>
            <a:ext cx="3200400" cy="960120"/>
          </a:xfrm>
          <a:prstGeom prst="rect">
            <a:avLst/>
          </a:prstGeom>
          <a:solidFill>
            <a:srgbClr val="0D1A2E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2157984"/>
            <a:ext cx="54864" cy="9601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221284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</a:rPr>
              <a:t>&lt;0.05 Gap on Gold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33872" y="248716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MuRIL trained only on real annotated data: val 0.54 → test 0.542. The gap nearly vanishes.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3236976"/>
            <a:ext cx="3200400" cy="960120"/>
          </a:xfrm>
          <a:prstGeom prst="rect">
            <a:avLst/>
          </a:prstGeom>
          <a:solidFill>
            <a:srgbClr val="0D1A2E"/>
          </a:solidFill>
          <a:ln w="19050">
            <a:solidFill>
              <a:srgbClr val="0D7A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3236976"/>
            <a:ext cx="54864" cy="96012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33872" y="32918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6E"/>
                </a:solidFill>
              </a:rPr>
              <a:t>Root Cause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33872" y="35661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Gemini-generated Hinglish is too clean. Real posts have irregular transliteration, abbreviations &amp; non-standard code-switching.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343400"/>
            <a:ext cx="9144000" cy="804672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Conclusion: The bottleneck is data distribution, not model capacity. LLM augmentation creates distributional shift.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Dynamics &amp; Error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949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Training Curves (PRC-MoE Stage 1)</a:t>
            </a:r>
            <a:endParaRPr lang="en-US" sz="1100" dirty="0"/>
          </a:p>
        </p:txBody>
      </p:sp>
      <p:pic>
        <p:nvPicPr>
          <p:cNvPr id="8" name="Image 0" descr="/home/claude/fig4_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98448"/>
            <a:ext cx="475488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Confusion Matrix — MuRIL (Gold)</a:t>
            </a:r>
            <a:endParaRPr lang="en-US" sz="1100" dirty="0"/>
          </a:p>
        </p:txBody>
      </p:sp>
      <p:pic>
        <p:nvPicPr>
          <p:cNvPr id="10" name="Image 1" descr="/home/claude/fig5_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98448"/>
            <a:ext cx="3611880" cy="2377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3840480"/>
            <a:ext cx="9144000" cy="438912"/>
          </a:xfrm>
          <a:prstGeom prst="rect">
            <a:avLst/>
          </a:prstGeom>
          <a:solidFill>
            <a:srgbClr val="EBF5F4"/>
          </a:solidFill>
          <a:ln w="6350">
            <a:solidFill>
              <a:srgbClr val="0D7A6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3895344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📊  Training loss diverges after best epoch — classic overfitting to augmented distribution   |   ⚠️  Positive class most confused with Neutral (213/472 positive samples misclassified)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79392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Neg F₁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Neu F₁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Pos F₁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Macro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BiLSTM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0.43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0.75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62828"/>
                          </a:solidFill>
                        </a:rPr>
                        <a:t>0.35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0.509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MuRIL (53K)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0.47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0.75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62828"/>
                          </a:solidFill>
                        </a:rPr>
                        <a:t>0.35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0.520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MuRIL (Gold) 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0.76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</a:rPr>
                        <a:t>0.42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0.542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PRC-MoE Expert Routing &amp; Dataset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949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Expert Routing Distribution</a:t>
            </a:r>
            <a:endParaRPr lang="en-US" sz="1100" dirty="0"/>
          </a:p>
        </p:txBody>
      </p:sp>
      <p:pic>
        <p:nvPicPr>
          <p:cNvPr id="8" name="Image 0" descr="/home/claude/fig7_expert_u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98448"/>
            <a:ext cx="411480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091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Class Distribution Across Splits</a:t>
            </a:r>
            <a:endParaRPr lang="en-US" sz="1100" dirty="0"/>
          </a:p>
        </p:txBody>
      </p:sp>
      <p:pic>
        <p:nvPicPr>
          <p:cNvPr id="10" name="Image 1" descr="/home/claude/fig6_dataset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98448"/>
            <a:ext cx="4114800" cy="2468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3840480"/>
            <a:ext cx="9144000" cy="1307592"/>
          </a:xfrm>
          <a:prstGeom prst="rect">
            <a:avLst/>
          </a:prstGeom>
          <a:solidFill>
            <a:srgbClr val="EBF5F4"/>
          </a:solidFill>
          <a:ln w="6350">
            <a:solidFill>
              <a:srgbClr val="0D7A6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91363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▸  Expert 2 (39.1%) &amp; Expert 1 (32.4%) dominate — routing learns to specialise by sentiment expression style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1480" y="429768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▸  Experts 0 &amp; 3 handle minority patterns (~14% each) — natural specialisation without explicit supervision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11480" y="468172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▸  Val set is 77% neutral vs 62% in test → partial explanation for val/test distribution gap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2004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A6E"/>
                </a:solidFill>
              </a:rPr>
              <a:t>Contributions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201168" cy="20116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89888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HinglishFinSent — first labelled Hinglish financial sentiment benchmark (2,966 gold samples)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201168" cy="20116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56816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Four novel architectures — BiLSTM, SACL, FACT, PRC-MoE for code-mixed financial 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52374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LLM augmentation analysis — distributional shift is primary bottleneck, not model capacity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201168" cy="201168"/>
          </a:xfrm>
          <a:prstGeom prst="ellipse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9067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PRC-MoE interpretability — MoE routing specialises by sentiment expression style without supervision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60520" cy="3200400"/>
          </a:xfrm>
          <a:prstGeom prst="rect">
            <a:avLst/>
          </a:prstGeom>
          <a:solidFill>
            <a:srgbClr val="0D1A2E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05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73168" y="1426464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1389888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Expand gold annotations — target Cohen's κ ≥ 0.70 with a second annotator pass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73168" y="1993392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956816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Replace LLM augmentation with real scraped annotated data to eliminate distribution shift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2560320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65776" y="252374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Twitter/X data — pursue API access for this major source of Indian financial discourse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3127248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5776" y="309067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Downstream utility — correlate Hinglish sentiment with NSE stock price movements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224528"/>
            <a:ext cx="9144000" cy="92354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Outcome: HinglishFinSent dataset released publicly · IEEE-format paper in preparation · Novel empirical findings on LLM augmentation quality in low-resource NLP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F0EC"/>
                </a:solidFill>
              </a:rPr>
              <a:t>github.com/SarthakGupta · Manipal University Jaipur · Guide: Dr. Bali Devi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HinglishFinSent</dc:title>
  <dc:subject>PptxGenJS Presentation</dc:subject>
  <dc:creator>Sarthak Gupta</dc:creator>
  <cp:lastModifiedBy>Sarthak Gupta</cp:lastModifiedBy>
  <cp:revision>1</cp:revision>
  <dcterms:created xsi:type="dcterms:W3CDTF">2026-04-14T00:44:56Z</dcterms:created>
  <dcterms:modified xsi:type="dcterms:W3CDTF">2026-04-14T00:44:56Z</dcterms:modified>
</cp:coreProperties>
</file>